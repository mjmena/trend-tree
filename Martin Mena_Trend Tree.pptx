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lus Jakarta Sans ExtraBold"/>
      <p:bold r:id="rId11"/>
      <p:boldItalic r:id="rId12"/>
    </p:embeddedFont>
    <p:embeddedFont>
      <p:font typeface="Inter SemiBold"/>
      <p:regular r:id="rId13"/>
      <p:bold r:id="rId14"/>
      <p:italic r:id="rId15"/>
      <p:boldItalic r:id="rId16"/>
    </p:embeddedFont>
    <p:embeddedFont>
      <p:font typeface="Inter"/>
      <p:bold r:id="rId17"/>
      <p:boldItalic r:id="rId18"/>
    </p:embeddedFon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Inter ExtraBold"/>
      <p:bold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InterExtraBold-boldItalic.fntdata"/><Relationship Id="rId27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11" Type="http://schemas.openxmlformats.org/officeDocument/2006/relationships/font" Target="fonts/PlusJakartaSansExtraBold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Italic.fntdata"/><Relationship Id="rId13" Type="http://schemas.openxmlformats.org/officeDocument/2006/relationships/font" Target="fonts/InterSemiBold-regular.fntdata"/><Relationship Id="rId12" Type="http://schemas.openxmlformats.org/officeDocument/2006/relationships/font" Target="fonts/PlusJakartaSansExtraBold-boldItalic.fntdata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bold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PlusJakartaSans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cf3643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4cf3643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cf3643e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4cf3643e1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cf3643e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e4cf3643e1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cf3643e1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4cf3643e1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cf3643e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4cf3643e1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0" y="571500"/>
            <a:ext cx="9144000" cy="857306"/>
            <a:chOff x="0" y="762000"/>
            <a:chExt cx="12192000" cy="1143075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0" y="762000"/>
              <a:ext cx="1219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6A34A"/>
                  </a:solidFill>
                  <a:latin typeface="Inter"/>
                  <a:ea typeface="Inter"/>
                  <a:cs typeface="Inter"/>
                  <a:sym typeface="Inter"/>
                </a:rPr>
                <a:t>May Showcase</a:t>
              </a:r>
              <a:endParaRPr b="1" sz="1100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1095375"/>
              <a:ext cx="12192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9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AI Forward </a:t>
              </a:r>
              <a:r>
                <a:rPr b="0" lang="en" sz="3900">
                  <a:solidFill>
                    <a:srgbClr val="16A34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Award</a:t>
              </a:r>
              <a:r>
                <a:rPr b="0" lang="en" sz="390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 Winners</a:t>
              </a:r>
              <a:endParaRPr b="0" sz="39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2428875" y="2000250"/>
            <a:ext cx="4286250" cy="1285875"/>
            <a:chOff x="3238500" y="2667000"/>
            <a:chExt cx="5715000" cy="1714500"/>
          </a:xfrm>
        </p:grpSpPr>
        <p:sp>
          <p:nvSpPr>
            <p:cNvPr id="59" name="Google Shape;59;p13"/>
            <p:cNvSpPr/>
            <p:nvPr/>
          </p:nvSpPr>
          <p:spPr>
            <a:xfrm>
              <a:off x="3238500" y="2667000"/>
              <a:ext cx="5715000" cy="1714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7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3524250" y="295275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</a:t>
              </a:r>
              <a:r>
                <a:rPr b="0" lang="en" sz="15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Innovators. 5 Minutes Each.</a:t>
              </a:r>
              <a:endParaRPr b="0" sz="15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16A34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30</a:t>
              </a:r>
              <a:r>
                <a:rPr b="0" lang="en" sz="1900">
                  <a:solidFill>
                    <a:srgbClr val="16A34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 Minutes of Collective Impact</a:t>
              </a:r>
              <a:endParaRPr b="0" sz="1900">
                <a:solidFill>
                  <a:srgbClr val="16A34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0" y="3714750"/>
            <a:ext cx="9144000" cy="500063"/>
            <a:chOff x="0" y="4953000"/>
            <a:chExt cx="12192000" cy="666750"/>
          </a:xfrm>
        </p:grpSpPr>
        <p:sp>
          <p:nvSpPr>
            <p:cNvPr id="62" name="Google Shape;62;p13"/>
            <p:cNvSpPr/>
            <p:nvPr/>
          </p:nvSpPr>
          <p:spPr>
            <a:xfrm>
              <a:off x="5143500" y="4953000"/>
              <a:ext cx="1905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 txBox="1"/>
            <p:nvPr/>
          </p:nvSpPr>
          <p:spPr>
            <a:xfrm>
              <a:off x="0" y="5238750"/>
              <a:ext cx="1219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r>
                <a:rPr b="0" lang="en" sz="12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Followed by Audience Q&amp;A</a:t>
              </a:r>
              <a:endParaRPr b="0" sz="12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7313" y="1421606"/>
            <a:ext cx="6429375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74069" y="2300288"/>
            <a:ext cx="26677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007059" y="2728913"/>
            <a:ext cx="100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[ Presenter Headshot ]</a:t>
            </a:r>
            <a:endParaRPr sz="1100"/>
          </a:p>
        </p:txBody>
      </p:sp>
      <p:sp>
        <p:nvSpPr>
          <p:cNvPr id="72" name="Google Shape;72;p14"/>
          <p:cNvSpPr txBox="1"/>
          <p:nvPr/>
        </p:nvSpPr>
        <p:spPr>
          <a:xfrm>
            <a:off x="3650456" y="1822749"/>
            <a:ext cx="2943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6A3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Forward Winner: </a:t>
            </a:r>
            <a:endParaRPr sz="1100"/>
          </a:p>
        </p:txBody>
      </p:sp>
      <p:sp>
        <p:nvSpPr>
          <p:cNvPr id="73" name="Google Shape;73;p14"/>
          <p:cNvSpPr txBox="1"/>
          <p:nvPr/>
        </p:nvSpPr>
        <p:spPr>
          <a:xfrm>
            <a:off x="3650456" y="2043113"/>
            <a:ext cx="29436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Martin Mena</a:t>
            </a:r>
            <a:endParaRPr b="0" i="0" sz="19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650456" y="2723081"/>
            <a:ext cx="37005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Project: </a:t>
            </a:r>
            <a:r>
              <a:rPr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Trend Tree System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650456" y="2371725"/>
            <a:ext cx="2943600" cy="17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Marketing Configuration Specialist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721644"/>
            <a:ext cx="3779043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935831" y="157876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 Chasing: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Standard trend analytics tools demand human operators to manually frame queries.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935831" y="243601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Noise Overload: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Sifting through cross-platform noise (TikTok, Bluesky, Amazon) is unsustainable at scale.</a:t>
            </a: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935831" y="329326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Agency Inefficiencies: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External cultural trend trackers run corporate research fees into six figures.</a:t>
            </a:r>
            <a:endParaRPr sz="1100"/>
          </a:p>
        </p:txBody>
      </p:sp>
      <p:pic>
        <p:nvPicPr>
          <p:cNvPr descr="image.png" id="85" name="Google Shape;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3456" y="1728788"/>
            <a:ext cx="3764757" cy="2271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644" y="1600200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44" y="245745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44" y="3314700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707231" y="435769"/>
            <a:ext cx="825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Friction: </a:t>
            </a:r>
            <a:r>
              <a:rPr b="0" i="0" lang="en" sz="2100" u="none" cap="none" strike="noStrike">
                <a:solidFill>
                  <a:srgbClr val="16A34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Human Dispatch Limitations</a:t>
            </a:r>
            <a:endParaRPr sz="1100"/>
          </a:p>
        </p:txBody>
      </p:sp>
      <p:sp>
        <p:nvSpPr>
          <p:cNvPr id="90" name="Google Shape;90;p15"/>
          <p:cNvSpPr/>
          <p:nvPr/>
        </p:nvSpPr>
        <p:spPr>
          <a:xfrm>
            <a:off x="578644" y="435769"/>
            <a:ext cx="42900" cy="33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1940309"/>
            <a:ext cx="2547863" cy="1848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7956" y="1940309"/>
            <a:ext cx="2547975" cy="1848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7381" y="1940309"/>
            <a:ext cx="2547863" cy="1848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2161766"/>
            <a:ext cx="2104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800100" y="2533241"/>
            <a:ext cx="22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Layer 1 &amp; 2: Ingestion</a:t>
            </a:r>
            <a:endParaRPr sz="1100"/>
          </a:p>
        </p:txBody>
      </p:sp>
      <p:sp>
        <p:nvSpPr>
          <p:cNvPr id="101" name="Google Shape;101;p16"/>
          <p:cNvSpPr txBox="1"/>
          <p:nvPr/>
        </p:nvSpPr>
        <p:spPr>
          <a:xfrm>
            <a:off x="800100" y="2818991"/>
            <a:ext cx="210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Autonomous listeners actively tap viral APIs 24/7 without needing human direction.</a:t>
            </a:r>
            <a:endParaRPr sz="1100"/>
          </a:p>
        </p:txBody>
      </p:sp>
      <p:pic>
        <p:nvPicPr>
          <p:cNvPr descr="image.png" id="102" name="Google Shape;10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9413" y="2161766"/>
            <a:ext cx="210506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519413" y="2533241"/>
            <a:ext cx="22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Layer 3: Cross-Model Enrichment</a:t>
            </a:r>
            <a:endParaRPr sz="1100"/>
          </a:p>
        </p:txBody>
      </p:sp>
      <p:sp>
        <p:nvSpPr>
          <p:cNvPr id="104" name="Google Shape;104;p16"/>
          <p:cNvSpPr txBox="1"/>
          <p:nvPr/>
        </p:nvSpPr>
        <p:spPr>
          <a:xfrm>
            <a:off x="3519413" y="3019016"/>
            <a:ext cx="21051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Passes findings across Gemini, GPT-4, and Claude to confirm trends in under 15 minutes.</a:t>
            </a:r>
            <a:endParaRPr sz="1100"/>
          </a:p>
        </p:txBody>
      </p:sp>
      <p:pic>
        <p:nvPicPr>
          <p:cNvPr descr="image.png" id="105" name="Google Shape;10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38" y="2161766"/>
            <a:ext cx="2104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238838" y="2533241"/>
            <a:ext cx="221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Layer 4: Auto-Pruning</a:t>
            </a:r>
            <a:endParaRPr sz="1100"/>
          </a:p>
        </p:txBody>
      </p:sp>
      <p:sp>
        <p:nvSpPr>
          <p:cNvPr id="107" name="Google Shape;107;p16"/>
          <p:cNvSpPr txBox="1"/>
          <p:nvPr/>
        </p:nvSpPr>
        <p:spPr>
          <a:xfrm>
            <a:off x="6238838" y="2818991"/>
            <a:ext cx="210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Maintains system health by continuously archiving dead cultural elements overnight.</a:t>
            </a:r>
            <a:endParaRPr sz="1100"/>
          </a:p>
        </p:txBody>
      </p:sp>
      <p:sp>
        <p:nvSpPr>
          <p:cNvPr id="108" name="Google Shape;108;p16"/>
          <p:cNvSpPr txBox="1"/>
          <p:nvPr/>
        </p:nvSpPr>
        <p:spPr>
          <a:xfrm>
            <a:off x="707231" y="435769"/>
            <a:ext cx="825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The </a:t>
            </a:r>
            <a:r>
              <a:rPr lang="en" sz="21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Solution</a:t>
            </a:r>
            <a:r>
              <a:rPr b="0" i="0" lang="en" sz="21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: </a:t>
            </a:r>
            <a:r>
              <a:rPr b="0" i="0" lang="en" sz="2100" u="none" cap="none" strike="noStrike">
                <a:solidFill>
                  <a:srgbClr val="16A34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Chained Multi-Agent Architecture</a:t>
            </a:r>
            <a:endParaRPr sz="1100"/>
          </a:p>
        </p:txBody>
      </p:sp>
      <p:sp>
        <p:nvSpPr>
          <p:cNvPr id="109" name="Google Shape;109;p16"/>
          <p:cNvSpPr/>
          <p:nvPr/>
        </p:nvSpPr>
        <p:spPr>
          <a:xfrm>
            <a:off x="578644" y="435769"/>
            <a:ext cx="42900" cy="33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2050256"/>
            <a:ext cx="3779043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871538" y="2343150"/>
            <a:ext cx="3193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200" u="none" cap="none" strike="noStrike">
                <a:solidFill>
                  <a:srgbClr val="16A34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$0.45</a:t>
            </a:r>
            <a:endParaRPr sz="1100"/>
          </a:p>
        </p:txBody>
      </p:sp>
      <p:sp>
        <p:nvSpPr>
          <p:cNvPr id="117" name="Google Shape;117;p17"/>
          <p:cNvSpPr txBox="1"/>
          <p:nvPr/>
        </p:nvSpPr>
        <p:spPr>
          <a:xfrm>
            <a:off x="871538" y="3245061"/>
            <a:ext cx="319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Operational Cost Per Verified Trend</a:t>
            </a:r>
            <a:endParaRPr sz="1100"/>
          </a:p>
        </p:txBody>
      </p:sp>
      <p:sp>
        <p:nvSpPr>
          <p:cNvPr id="118" name="Google Shape;118;p17"/>
          <p:cNvSpPr txBox="1"/>
          <p:nvPr/>
        </p:nvSpPr>
        <p:spPr>
          <a:xfrm>
            <a:off x="5143500" y="192166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Scale Capacity: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Currently actively monitoring 136 real-time macro consumer paths.</a:t>
            </a:r>
            <a:endParaRPr sz="1100"/>
          </a:p>
        </p:txBody>
      </p:sp>
      <p:sp>
        <p:nvSpPr>
          <p:cNvPr id="119" name="Google Shape;119;p17"/>
          <p:cNvSpPr txBox="1"/>
          <p:nvPr/>
        </p:nvSpPr>
        <p:spPr>
          <a:xfrm>
            <a:off x="5143500" y="255031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Complete Auditability: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Append-only logs track precisely how every AI layer made decisions.</a:t>
            </a:r>
            <a:endParaRPr sz="1100"/>
          </a:p>
        </p:txBody>
      </p:sp>
      <p:sp>
        <p:nvSpPr>
          <p:cNvPr id="120" name="Google Shape;120;p17"/>
          <p:cNvSpPr txBox="1"/>
          <p:nvPr/>
        </p:nvSpPr>
        <p:spPr>
          <a:xfrm>
            <a:off x="5143500" y="3178969"/>
            <a:ext cx="3421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Vision:</a:t>
            </a:r>
            <a:r>
              <a:rPr b="0" i="0" lang="en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Transitioning this setup to act as a core engine for broader strategic planning.</a:t>
            </a:r>
            <a:endParaRPr sz="1100"/>
          </a:p>
        </p:txBody>
      </p:sp>
      <p:pic>
        <p:nvPicPr>
          <p:cNvPr descr="image.pn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571750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320040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707231" y="435769"/>
            <a:ext cx="825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Mena Impact: </a:t>
            </a:r>
            <a:r>
              <a:rPr b="0" i="0" lang="en" sz="2100" u="none" cap="none" strike="noStrike">
                <a:solidFill>
                  <a:srgbClr val="16A34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Ultra-Low-Cost Intelligence</a:t>
            </a:r>
            <a:endParaRPr sz="1100"/>
          </a:p>
        </p:txBody>
      </p:sp>
      <p:sp>
        <p:nvSpPr>
          <p:cNvPr id="124" name="Google Shape;124;p17"/>
          <p:cNvSpPr/>
          <p:nvPr/>
        </p:nvSpPr>
        <p:spPr>
          <a:xfrm>
            <a:off x="578644" y="435769"/>
            <a:ext cx="42900" cy="33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