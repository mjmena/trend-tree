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6960" cy="408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49A650-D5DD-4A74-B10A-A2835BADD57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600" cy="14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160" cy="369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AAB00B-7D14-4BD3-B3FB-5C16C88B20A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7960" cy="60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30361C-3223-4F75-808D-5C8E99779D1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644BDF-E7A1-41E8-AE7C-2A6FBF2944F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19760" cy="19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en-US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19760" cy="12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83C0A3-451F-4E1C-A3E5-8AED7E6346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9BAF7E-6946-4B03-AE20-18209B1A319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9760" cy="84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B5D9CC-52A9-4DC7-A16D-EBC73DDB6E7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525348-8E3C-4EFD-9A6A-E78A15A6FCB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AD9E25-FC31-4EDF-BBD4-23F673584F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58095E-806F-4083-B37B-296BD3C7D07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280" cy="7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280" cy="31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00BD67-BEE6-44C4-9793-DF4DB5234D2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54;p13"/>
          <p:cNvSpPr/>
          <p:nvPr/>
        </p:nvSpPr>
        <p:spPr>
          <a:xfrm>
            <a:off x="0" y="0"/>
            <a:ext cx="9143280" cy="171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" name="Google Shape;55;p13"/>
          <p:cNvGrpSpPr/>
          <p:nvPr/>
        </p:nvGrpSpPr>
        <p:grpSpPr>
          <a:xfrm>
            <a:off x="0" y="571680"/>
            <a:ext cx="9143280" cy="856440"/>
            <a:chOff x="0" y="571680"/>
            <a:chExt cx="9143280" cy="856440"/>
          </a:xfrm>
        </p:grpSpPr>
        <p:sp>
          <p:nvSpPr>
            <p:cNvPr id="32" name="Google Shape;56;p13"/>
            <p:cNvSpPr/>
            <p:nvPr/>
          </p:nvSpPr>
          <p:spPr>
            <a:xfrm>
              <a:off x="0" y="571680"/>
              <a:ext cx="914328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100" strike="noStrike" u="none">
                  <a:solidFill>
                    <a:srgbClr val="16a34a"/>
                  </a:solidFill>
                  <a:effectLst/>
                  <a:uFillTx/>
                  <a:latin typeface="Inter"/>
                  <a:ea typeface="Inter"/>
                </a:rPr>
                <a:t>May Showcase</a:t>
              </a:r>
              <a:endPara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Google Shape;57;p13"/>
            <p:cNvSpPr/>
            <p:nvPr/>
          </p:nvSpPr>
          <p:spPr>
            <a:xfrm>
              <a:off x="0" y="821520"/>
              <a:ext cx="9143280" cy="60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3900" strike="noStrike" u="none">
                  <a:solidFill>
                    <a:srgbClr val="0f172a"/>
                  </a:solidFill>
                  <a:effectLst/>
                  <a:uFillTx/>
                  <a:latin typeface="Plus Jakarta Sans ExtraBold"/>
                  <a:ea typeface="Plus Jakarta Sans ExtraBold"/>
                </a:rPr>
                <a:t>AI Forward </a:t>
              </a:r>
              <a:r>
                <a:rPr b="0" lang="en" sz="3900" strike="noStrike" u="none">
                  <a:solidFill>
                    <a:srgbClr val="16a34a"/>
                  </a:solidFill>
                  <a:effectLst/>
                  <a:uFillTx/>
                  <a:latin typeface="Plus Jakarta Sans ExtraBold"/>
                  <a:ea typeface="Plus Jakarta Sans ExtraBold"/>
                </a:rPr>
                <a:t>Award</a:t>
              </a:r>
              <a:r>
                <a:rPr b="0" lang="en" sz="3900" strike="noStrike" u="none">
                  <a:solidFill>
                    <a:srgbClr val="0f172a"/>
                  </a:solidFill>
                  <a:effectLst/>
                  <a:uFillTx/>
                  <a:latin typeface="Plus Jakarta Sans ExtraBold"/>
                  <a:ea typeface="Plus Jakarta Sans ExtraBold"/>
                </a:rPr>
                <a:t> Winners</a:t>
              </a:r>
              <a:endParaRPr b="0" lang="en-US" sz="3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" name="Google Shape;58;p13"/>
          <p:cNvGrpSpPr/>
          <p:nvPr/>
        </p:nvGrpSpPr>
        <p:grpSpPr>
          <a:xfrm>
            <a:off x="2428920" y="2000160"/>
            <a:ext cx="4285440" cy="1285200"/>
            <a:chOff x="2428920" y="2000160"/>
            <a:chExt cx="4285440" cy="1285200"/>
          </a:xfrm>
        </p:grpSpPr>
        <p:sp>
          <p:nvSpPr>
            <p:cNvPr id="35" name="Google Shape;59;p13"/>
            <p:cNvSpPr/>
            <p:nvPr/>
          </p:nvSpPr>
          <p:spPr>
            <a:xfrm>
              <a:off x="2428920" y="2000160"/>
              <a:ext cx="4285440" cy="12852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7150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Google Shape;60;p13"/>
            <p:cNvSpPr/>
            <p:nvPr/>
          </p:nvSpPr>
          <p:spPr>
            <a:xfrm>
              <a:off x="2643120" y="2214720"/>
              <a:ext cx="3857040" cy="85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trike="noStrike" u="none">
                  <a:solidFill>
                    <a:srgbClr val="1e293b"/>
                  </a:solidFill>
                  <a:effectLst/>
                  <a:uFillTx/>
                  <a:latin typeface="Inter SemiBold"/>
                  <a:ea typeface="Inter SemiBold"/>
                </a:rPr>
                <a:t>6 Innovators. 5 Minutes Each.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Bef>
                  <a:spcPts val="700"/>
                </a:spcBef>
                <a:tabLst>
                  <a:tab algn="l" pos="0"/>
                </a:tabLst>
              </a:pPr>
              <a:r>
                <a:rPr b="0" lang="en" sz="1900" strike="noStrike" u="none">
                  <a:solidFill>
                    <a:srgbClr val="16a34a"/>
                  </a:solidFill>
                  <a:effectLst/>
                  <a:uFillTx/>
                  <a:latin typeface="Inter ExtraBold"/>
                  <a:ea typeface="Inter ExtraBold"/>
                </a:rPr>
                <a:t>30 Minutes of Collective Impact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" name="Google Shape;61;p13"/>
          <p:cNvGrpSpPr/>
          <p:nvPr/>
        </p:nvGrpSpPr>
        <p:grpSpPr>
          <a:xfrm>
            <a:off x="0" y="3714840"/>
            <a:ext cx="9143280" cy="499320"/>
            <a:chOff x="0" y="3714840"/>
            <a:chExt cx="9143280" cy="499320"/>
          </a:xfrm>
        </p:grpSpPr>
        <p:sp>
          <p:nvSpPr>
            <p:cNvPr id="38" name="Google Shape;62;p13"/>
            <p:cNvSpPr/>
            <p:nvPr/>
          </p:nvSpPr>
          <p:spPr>
            <a:xfrm>
              <a:off x="3857760" y="3714840"/>
              <a:ext cx="1428120" cy="13680"/>
            </a:xfrm>
            <a:prstGeom prst="rect">
              <a:avLst/>
            </a:pr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Google Shape;63;p13"/>
            <p:cNvSpPr/>
            <p:nvPr/>
          </p:nvSpPr>
          <p:spPr>
            <a:xfrm>
              <a:off x="0" y="3929040"/>
              <a:ext cx="9143280" cy="28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trike="noStrike" u="none">
                  <a:solidFill>
                    <a:srgbClr val="16a34a"/>
                  </a:solidFill>
                  <a:effectLst/>
                  <a:uFillTx/>
                  <a:latin typeface="Material Icons"/>
                  <a:ea typeface="Material Icons"/>
                </a:rPr>
                <a:t>forum</a:t>
              </a:r>
              <a:r>
                <a:rPr b="0" lang="en" sz="1200" strike="noStrike" u="none">
                  <a:solidFill>
                    <a:srgbClr val="64748b"/>
                  </a:solidFill>
                  <a:effectLst/>
                  <a:uFillTx/>
                  <a:latin typeface="Inter Medium"/>
                  <a:ea typeface="Inter Medium"/>
                </a:rPr>
                <a:t>Followed by Audience Q&amp;A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68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69;p14" descr="image.png"/>
          <p:cNvPicPr/>
          <p:nvPr/>
        </p:nvPicPr>
        <p:blipFill>
          <a:blip r:embed="rId2"/>
          <a:stretch/>
        </p:blipFill>
        <p:spPr>
          <a:xfrm>
            <a:off x="1357200" y="1421640"/>
            <a:ext cx="6428520" cy="229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Google Shape;72;p14"/>
          <p:cNvSpPr/>
          <p:nvPr/>
        </p:nvSpPr>
        <p:spPr>
          <a:xfrm>
            <a:off x="3650400" y="1822680"/>
            <a:ext cx="29430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rgbClr val="16a34a"/>
                </a:solidFill>
                <a:effectLst/>
                <a:uFillTx/>
                <a:latin typeface="Plus Jakarta Sans SemiBold"/>
                <a:ea typeface="Plus Jakarta Sans SemiBold"/>
              </a:rPr>
              <a:t>AI Forward Winner: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73;p14"/>
          <p:cNvSpPr/>
          <p:nvPr/>
        </p:nvSpPr>
        <p:spPr>
          <a:xfrm>
            <a:off x="3650400" y="2043000"/>
            <a:ext cx="29430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rgbClr val="0f172a"/>
                </a:solidFill>
                <a:effectLst/>
                <a:uFillTx/>
                <a:latin typeface="Plus Jakarta Sans ExtraBold"/>
                <a:ea typeface="Plus Jakarta Sans ExtraBold"/>
              </a:rPr>
              <a:t>Martin Mena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74;p14"/>
          <p:cNvSpPr/>
          <p:nvPr/>
        </p:nvSpPr>
        <p:spPr>
          <a:xfrm>
            <a:off x="3650400" y="2723040"/>
            <a:ext cx="36997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Project:  </a:t>
            </a:r>
            <a:r>
              <a:rPr b="1" lang="en" sz="120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Trend Tree System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75;p14"/>
          <p:cNvSpPr/>
          <p:nvPr/>
        </p:nvSpPr>
        <p:spPr>
          <a:xfrm>
            <a:off x="3650400" y="2371680"/>
            <a:ext cx="29430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Marketing Configuration Specialist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Picture 47" descr="headshot.png"/>
          <p:cNvPicPr/>
          <p:nvPr/>
        </p:nvPicPr>
        <p:blipFill>
          <a:blip r:embed="rId3"/>
          <a:srcRect l="0" t="4000" r="0" b="22996"/>
          <a:stretch/>
        </p:blipFill>
        <p:spPr>
          <a:xfrm>
            <a:off x="1607040" y="1675080"/>
            <a:ext cx="1799640" cy="179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80;p15" descr="image.png"/>
          <p:cNvPicPr/>
          <p:nvPr/>
        </p:nvPicPr>
        <p:blipFill>
          <a:blip r:embed="rId1"/>
          <a:stretch/>
        </p:blipFill>
        <p:spPr>
          <a:xfrm>
            <a:off x="0" y="11484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Google Shape;89;p15"/>
          <p:cNvSpPr/>
          <p:nvPr/>
        </p:nvSpPr>
        <p:spPr>
          <a:xfrm>
            <a:off x="707400" y="435600"/>
            <a:ext cx="825012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100" strike="noStrike" u="none">
                <a:solidFill>
                  <a:srgbClr val="0f172a"/>
                </a:solidFill>
                <a:effectLst/>
                <a:uFillTx/>
                <a:latin typeface="Plus Jakarta Sans ExtraBold"/>
                <a:ea typeface="Plus Jakarta Sans ExtraBold"/>
              </a:rPr>
              <a:t>The </a:t>
            </a:r>
            <a:r>
              <a:rPr b="0" lang="en" sz="2100" strike="noStrike" u="none">
                <a:solidFill>
                  <a:srgbClr val="16a34a"/>
                </a:solidFill>
                <a:effectLst/>
                <a:uFillTx/>
                <a:latin typeface="Plus Jakarta Sans ExtraBold"/>
                <a:ea typeface="Plus Jakarta Sans ExtraBold"/>
              </a:rPr>
              <a:t>Signal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90;p15"/>
          <p:cNvSpPr/>
          <p:nvPr/>
        </p:nvSpPr>
        <p:spPr>
          <a:xfrm>
            <a:off x="578520" y="435600"/>
            <a:ext cx="42120" cy="33516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Box 90"/>
          <p:cNvSpPr/>
          <p:nvPr/>
        </p:nvSpPr>
        <p:spPr>
          <a:xfrm>
            <a:off x="936000" y="1519920"/>
            <a:ext cx="34992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16a34a"/>
                </a:solidFill>
                <a:effectLst/>
                <a:uFillTx/>
                <a:latin typeface="Inter"/>
                <a:ea typeface="Arial"/>
              </a:rPr>
              <a:t>Real voices — </a:t>
            </a:r>
            <a:r>
              <a:rPr b="0" lang="en-US" sz="1300" strike="noStrike" u="none">
                <a:solidFill>
                  <a:srgbClr val="0f172a"/>
                </a:solidFill>
                <a:effectLst/>
                <a:uFillTx/>
                <a:latin typeface="Inter"/>
                <a:ea typeface="Arial"/>
              </a:rPr>
              <a:t>people over multiple months, independently wished for the same thing.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91"/>
          <p:cNvSpPr/>
          <p:nvPr/>
        </p:nvSpPr>
        <p:spPr>
          <a:xfrm>
            <a:off x="936000" y="2430000"/>
            <a:ext cx="3499200" cy="8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16a34a"/>
                </a:solidFill>
                <a:effectLst/>
                <a:uFillTx/>
                <a:latin typeface="Inter"/>
                <a:ea typeface="Arial"/>
              </a:rPr>
              <a:t>AI scouts — </a:t>
            </a:r>
            <a:r>
              <a:rPr b="0" lang="en-US" sz="1300" strike="noStrike" u="none">
                <a:solidFill>
                  <a:srgbClr val="0f172a"/>
                </a:solidFill>
                <a:effectLst/>
                <a:uFillTx/>
                <a:latin typeface="Inter"/>
                <a:ea typeface="Arial"/>
              </a:rPr>
              <a:t>Gemini, Grok &amp; ChatGPT separately flagged ‘literary tourism’ out on the open web.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Rectangle 92"/>
          <p:cNvSpPr/>
          <p:nvPr/>
        </p:nvSpPr>
        <p:spPr>
          <a:xfrm>
            <a:off x="4560120" y="1540080"/>
            <a:ext cx="45360" cy="117936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3" name="TextBox 93"/>
          <p:cNvSpPr/>
          <p:nvPr/>
        </p:nvSpPr>
        <p:spPr>
          <a:xfrm>
            <a:off x="4719960" y="1474200"/>
            <a:ext cx="399924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f172a"/>
                </a:solidFill>
                <a:effectLst/>
                <a:uFillTx/>
                <a:latin typeface="Inter"/>
                <a:ea typeface="Arial"/>
              </a:rPr>
              <a:t>“We booked a hotel and the plan is literally to sit and read in the same room and order room service.”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94"/>
          <p:cNvSpPr/>
          <p:nvPr/>
        </p:nvSpPr>
        <p:spPr>
          <a:xfrm>
            <a:off x="500040" y="3880080"/>
            <a:ext cx="81432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300" strike="noStrike" u="none">
                <a:solidFill>
                  <a:srgbClr val="7c8a95"/>
                </a:solidFill>
                <a:effectLst/>
                <a:uFillTx/>
                <a:latin typeface="Inter"/>
                <a:ea typeface="Arial"/>
              </a:rPr>
              <a:t>AI agents uncovered a collection of signals: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2800" strike="noStrike" u="none">
                <a:solidFill>
                  <a:srgbClr val="16a34a"/>
                </a:solidFill>
                <a:effectLst/>
                <a:uFillTx/>
                <a:latin typeface="Inter"/>
                <a:ea typeface="Arial"/>
              </a:rPr>
              <a:t>Plot-Driven PTO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95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Google Shape;96;p16" descr="image.png"/>
          <p:cNvPicPr/>
          <p:nvPr/>
        </p:nvPicPr>
        <p:blipFill>
          <a:blip r:embed="rId2"/>
          <a:stretch/>
        </p:blipFill>
        <p:spPr>
          <a:xfrm>
            <a:off x="578520" y="1940400"/>
            <a:ext cx="2547000" cy="184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Google Shape;97;p16" descr="image.png"/>
          <p:cNvPicPr/>
          <p:nvPr/>
        </p:nvPicPr>
        <p:blipFill>
          <a:blip r:embed="rId3"/>
          <a:stretch/>
        </p:blipFill>
        <p:spPr>
          <a:xfrm>
            <a:off x="3297960" y="1940400"/>
            <a:ext cx="2547360" cy="184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Google Shape;98;p16" descr="image.png"/>
          <p:cNvPicPr/>
          <p:nvPr/>
        </p:nvPicPr>
        <p:blipFill>
          <a:blip r:embed="rId4"/>
          <a:stretch/>
        </p:blipFill>
        <p:spPr>
          <a:xfrm>
            <a:off x="6017400" y="1940400"/>
            <a:ext cx="2547000" cy="184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Google Shape;99;p16" descr="image.png"/>
          <p:cNvPicPr/>
          <p:nvPr/>
        </p:nvPicPr>
        <p:blipFill>
          <a:blip r:embed="rId5"/>
          <a:stretch/>
        </p:blipFill>
        <p:spPr>
          <a:xfrm>
            <a:off x="800280" y="2161800"/>
            <a:ext cx="210420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Google Shape;100;p16"/>
          <p:cNvSpPr/>
          <p:nvPr/>
        </p:nvSpPr>
        <p:spPr>
          <a:xfrm>
            <a:off x="800280" y="2533320"/>
            <a:ext cx="220932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f172a"/>
                </a:solidFill>
                <a:effectLst/>
                <a:uFillTx/>
                <a:latin typeface="Plus Jakarta Sans"/>
                <a:ea typeface="Plus Jakarta Sans"/>
              </a:rPr>
              <a:t>Discovery &amp; Ingestion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101;p16"/>
          <p:cNvSpPr/>
          <p:nvPr/>
        </p:nvSpPr>
        <p:spPr>
          <a:xfrm>
            <a:off x="800280" y="2819160"/>
            <a:ext cx="2104200" cy="65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Autonomous listeners tap multiple sources, 24/7 — no human deciding what to search for.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Google Shape;102;p16" descr="image.png"/>
          <p:cNvPicPr/>
          <p:nvPr/>
        </p:nvPicPr>
        <p:blipFill>
          <a:blip r:embed="rId6"/>
          <a:stretch/>
        </p:blipFill>
        <p:spPr>
          <a:xfrm>
            <a:off x="3519360" y="2161800"/>
            <a:ext cx="210420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Google Shape;103;p16"/>
          <p:cNvSpPr/>
          <p:nvPr/>
        </p:nvSpPr>
        <p:spPr>
          <a:xfrm>
            <a:off x="3519360" y="2533320"/>
            <a:ext cx="22096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f172a"/>
                </a:solidFill>
                <a:effectLst/>
                <a:uFillTx/>
                <a:latin typeface="Plus Jakarta Sans"/>
                <a:ea typeface="Plus Jakarta Sans"/>
              </a:rPr>
              <a:t>Distillation &amp; Promotion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104;p16"/>
          <p:cNvSpPr/>
          <p:nvPr/>
        </p:nvSpPr>
        <p:spPr>
          <a:xfrm>
            <a:off x="3519360" y="2902320"/>
            <a:ext cx="2104560" cy="5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Agents decide for themselves: a brand-new trend, or more proof for one we already track?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106;p16"/>
          <p:cNvSpPr/>
          <p:nvPr/>
        </p:nvSpPr>
        <p:spPr>
          <a:xfrm>
            <a:off x="6238800" y="2533320"/>
            <a:ext cx="220932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f172a"/>
                </a:solidFill>
                <a:effectLst/>
                <a:uFillTx/>
                <a:latin typeface="Plus Jakarta Sans"/>
                <a:ea typeface="Plus Jakarta Sans"/>
              </a:rPr>
              <a:t>Lifecycle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107;p16"/>
          <p:cNvSpPr/>
          <p:nvPr/>
        </p:nvSpPr>
        <p:spPr>
          <a:xfrm>
            <a:off x="6238800" y="2819160"/>
            <a:ext cx="2104200" cy="5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Every change lands on an append-only ledger — replay the trend’s whole history.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108;p16"/>
          <p:cNvSpPr/>
          <p:nvPr/>
        </p:nvSpPr>
        <p:spPr>
          <a:xfrm>
            <a:off x="707400" y="435600"/>
            <a:ext cx="825012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100" strike="noStrike" u="none">
                <a:solidFill>
                  <a:srgbClr val="0f172a"/>
                </a:solidFill>
                <a:effectLst/>
                <a:uFillTx/>
                <a:latin typeface="Plus Jakarta Sans ExtraBold"/>
                <a:ea typeface="Plus Jakarta Sans ExtraBold"/>
              </a:rPr>
              <a:t>The </a:t>
            </a:r>
            <a:r>
              <a:rPr b="0" lang="en" sz="2100" strike="noStrike" u="none">
                <a:solidFill>
                  <a:srgbClr val="16a34a"/>
                </a:solidFill>
                <a:effectLst/>
                <a:uFillTx/>
                <a:latin typeface="Plus Jakarta Sans ExtraBold"/>
                <a:ea typeface="Plus Jakarta Sans ExtraBold"/>
              </a:rPr>
              <a:t>Decision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09;p16"/>
          <p:cNvSpPr/>
          <p:nvPr/>
        </p:nvSpPr>
        <p:spPr>
          <a:xfrm>
            <a:off x="578520" y="435600"/>
            <a:ext cx="42120" cy="33516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109" descr="heat_curve.png"/>
          <p:cNvPicPr/>
          <p:nvPr/>
        </p:nvPicPr>
        <p:blipFill>
          <a:blip r:embed="rId7"/>
          <a:stretch/>
        </p:blipFill>
        <p:spPr>
          <a:xfrm>
            <a:off x="1500120" y="900000"/>
            <a:ext cx="6143400" cy="95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71" descr="flywheel.png"/>
          <p:cNvPicPr/>
          <p:nvPr/>
        </p:nvPicPr>
        <p:blipFill>
          <a:blip r:embed="rId8"/>
          <a:stretch/>
        </p:blipFill>
        <p:spPr>
          <a:xfrm>
            <a:off x="6238800" y="2161800"/>
            <a:ext cx="246600" cy="22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14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Google Shape;123;p17"/>
          <p:cNvSpPr/>
          <p:nvPr/>
        </p:nvSpPr>
        <p:spPr>
          <a:xfrm>
            <a:off x="707400" y="435600"/>
            <a:ext cx="82501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100" strike="noStrike" u="none">
                <a:solidFill>
                  <a:srgbClr val="0f172a"/>
                </a:solidFill>
                <a:effectLst/>
                <a:uFillTx/>
                <a:latin typeface="Plus Jakarta Sans ExtraBold"/>
                <a:ea typeface="Plus Jakarta Sans ExtraBold"/>
              </a:rPr>
              <a:t>The </a:t>
            </a:r>
            <a:r>
              <a:rPr b="0" lang="en" sz="2100" strike="noStrike" u="none">
                <a:solidFill>
                  <a:srgbClr val="16a34a"/>
                </a:solidFill>
                <a:effectLst/>
                <a:uFillTx/>
                <a:latin typeface="Plus Jakarta Sans ExtraBold"/>
                <a:ea typeface="Plus Jakarta Sans ExtraBold"/>
              </a:rPr>
              <a:t>Payoff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24;p17"/>
          <p:cNvSpPr/>
          <p:nvPr/>
        </p:nvSpPr>
        <p:spPr>
          <a:xfrm>
            <a:off x="578520" y="435600"/>
            <a:ext cx="42120" cy="33516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500040" y="1149840"/>
            <a:ext cx="81435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700" strike="noStrike" u="none">
                <a:solidFill>
                  <a:srgbClr val="0f172a"/>
                </a:solidFill>
                <a:effectLst/>
                <a:uFillTx/>
                <a:latin typeface="Inter"/>
              </a:rPr>
              <a:t>Every trend the system finds is a </a:t>
            </a:r>
            <a:r>
              <a:rPr b="0" lang="en-US" sz="1700" strike="noStrike" u="none">
                <a:solidFill>
                  <a:srgbClr val="16a34a"/>
                </a:solidFill>
                <a:effectLst/>
                <a:uFillTx/>
                <a:latin typeface="Inter"/>
              </a:rPr>
              <a:t>content opportunity.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75"/>
          <p:cNvSpPr/>
          <p:nvPr/>
        </p:nvSpPr>
        <p:spPr>
          <a:xfrm>
            <a:off x="600120" y="1779840"/>
            <a:ext cx="2399760" cy="999720"/>
          </a:xfrm>
          <a:prstGeom prst="roundRect">
            <a:avLst>
              <a:gd name="adj" fmla="val 16667"/>
            </a:avLst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Inter"/>
              </a:rPr>
              <a:t>Audience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trike="noStrike" u="none">
                <a:solidFill>
                  <a:srgbClr val="16a34a"/>
                </a:solidFill>
                <a:effectLst/>
                <a:uFillTx/>
                <a:latin typeface="Inter"/>
              </a:rPr>
              <a:t>who it reaches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76"/>
          <p:cNvSpPr/>
          <p:nvPr/>
        </p:nvSpPr>
        <p:spPr>
          <a:xfrm>
            <a:off x="3372120" y="1779840"/>
            <a:ext cx="2399760" cy="999720"/>
          </a:xfrm>
          <a:prstGeom prst="roundRect">
            <a:avLst>
              <a:gd name="adj" fmla="val 16667"/>
            </a:avLst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Inter"/>
              </a:rPr>
              <a:t>Content Gaps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trike="noStrike" u="none">
                <a:solidFill>
                  <a:srgbClr val="16a34a"/>
                </a:solidFill>
                <a:effectLst/>
                <a:uFillTx/>
                <a:latin typeface="Inter"/>
              </a:rPr>
              <a:t>what we may be missing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77"/>
          <p:cNvSpPr/>
          <p:nvPr/>
        </p:nvSpPr>
        <p:spPr>
          <a:xfrm>
            <a:off x="6144120" y="1779840"/>
            <a:ext cx="2399760" cy="999720"/>
          </a:xfrm>
          <a:prstGeom prst="roundRect">
            <a:avLst>
              <a:gd name="adj" fmla="val 16667"/>
            </a:avLst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Inter"/>
              </a:rPr>
              <a:t>Monetization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trike="noStrike" u="none">
                <a:solidFill>
                  <a:srgbClr val="16a34a"/>
                </a:solidFill>
                <a:effectLst/>
                <a:uFillTx/>
                <a:latin typeface="Inter"/>
              </a:rPr>
              <a:t>how it pays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500040" y="3080160"/>
            <a:ext cx="81435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f172a"/>
                </a:solidFill>
                <a:effectLst/>
                <a:uFillTx/>
                <a:latin typeface="Inter"/>
              </a:rPr>
              <a:t>Trend Tree increases speed to market while keeping our efforts focused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79"/>
          <p:cNvSpPr/>
          <p:nvPr/>
        </p:nvSpPr>
        <p:spPr>
          <a:xfrm>
            <a:off x="500040" y="4039920"/>
            <a:ext cx="814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16a34a"/>
                </a:solidFill>
                <a:effectLst/>
                <a:uFillTx/>
                <a:latin typeface="Inter"/>
              </a:rPr>
              <a:t>P</a:t>
            </a:r>
            <a:r>
              <a:rPr b="1" lang="en-US" sz="1400" strike="noStrike" u="none">
                <a:solidFill>
                  <a:srgbClr val="16a34a"/>
                </a:solidFill>
                <a:effectLst/>
                <a:uFillTx/>
                <a:latin typeface="Inter"/>
              </a:rPr>
              <a:t>lot-Driven PTO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Inter"/>
              </a:rPr>
              <a:t>is one trend of 200+ that have been surfaced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2026-05-29T08:27:21Z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